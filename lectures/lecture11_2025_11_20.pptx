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</p:sldIdLst>
  <p:sldSz cy="68580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38" roundtripDataSignature="AMtx7mj8PhcUgP90Sa2IW7NW4yeZr68pS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slide" Target="slides/slide28.xml"/><Relationship Id="rId10" Type="http://schemas.openxmlformats.org/officeDocument/2006/relationships/slide" Target="slides/slide5.xml"/><Relationship Id="rId32" Type="http://schemas.openxmlformats.org/officeDocument/2006/relationships/slide" Target="slides/slide27.xml"/><Relationship Id="rId13" Type="http://schemas.openxmlformats.org/officeDocument/2006/relationships/slide" Target="slides/slide8.xml"/><Relationship Id="rId35" Type="http://schemas.openxmlformats.org/officeDocument/2006/relationships/slide" Target="slides/slide30.xml"/><Relationship Id="rId12" Type="http://schemas.openxmlformats.org/officeDocument/2006/relationships/slide" Target="slides/slide7.xml"/><Relationship Id="rId34" Type="http://schemas.openxmlformats.org/officeDocument/2006/relationships/slide" Target="slides/slide29.xml"/><Relationship Id="rId15" Type="http://schemas.openxmlformats.org/officeDocument/2006/relationships/slide" Target="slides/slide10.xml"/><Relationship Id="rId37" Type="http://schemas.openxmlformats.org/officeDocument/2006/relationships/slide" Target="slides/slide32.xml"/><Relationship Id="rId14" Type="http://schemas.openxmlformats.org/officeDocument/2006/relationships/slide" Target="slides/slide9.xml"/><Relationship Id="rId36" Type="http://schemas.openxmlformats.org/officeDocument/2006/relationships/slide" Target="slides/slide31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38" Type="http://customschemas.google.com/relationships/presentationmetadata" Target="metadata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29e2e4384dd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9" name="Google Shape;89;g29e2e4384dd_1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29e2e4384dd_1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5" name="Google Shape;95;g29e2e4384dd_1_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29e2e4384dd_1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2" name="Google Shape;102;g29e2e4384dd_1_1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29e2e4384dd_1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9" name="Google Shape;109;g29e2e4384dd_1_1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29e2e4384dd_1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5" name="Google Shape;115;g29e2e4384dd_1_2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29e2e4384dd_1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21" name="Google Shape;121;g29e2e4384dd_1_2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29e2e4384dd_1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27" name="Google Shape;127;g29e2e4384dd_1_3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29e2e4384dd_1_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4" name="Google Shape;134;g29e2e4384dd_1_3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29e2e4384dd_1_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41" name="Google Shape;141;g29e2e4384dd_1_4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29e2e4384dd_1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48" name="Google Shape;148;g29e2e4384dd_1_5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29e2e4384dd_1_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55" name="Google Shape;155;g29e2e4384dd_1_5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29e2e4384dd_1_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63" name="Google Shape;163;g29e2e4384dd_1_6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29e2e4384dd_1_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70" name="Google Shape;170;g29e2e4384dd_1_6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g29e2e4384dd_1_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76" name="Google Shape;176;g29e2e4384dd_1_7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g29e2e4384dd_1_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83" name="Google Shape;183;g29e2e4384dd_1_8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g29e2e4384dd_1_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90" name="Google Shape;190;g29e2e4384dd_1_8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g29e2e4384dd_1_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96" name="Google Shape;196;g29e2e4384dd_1_9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29e2e4384dd_1_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05" name="Google Shape;205;g29e2e4384dd_1_9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g29e2e4384dd_1_1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12" name="Google Shape;212;g29e2e4384dd_1_10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g29e2e4384dd_1_1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19" name="Google Shape;219;g29e2e4384dd_1_11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g29e2e4384dd_1_1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25" name="Google Shape;225;g29e2e4384dd_1_11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g29e2e4384dd_1_1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31" name="Google Shape;231;g29e2e4384dd_1_12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29e2e4384dd_1_1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37" name="Google Shape;237;g29e2e4384dd_1_12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g29e2e4384dd_1_1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43" name="Google Shape;243;g29e2e4384dd_1_13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g29e2e4384dd_1_1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49" name="Google Shape;249;g29e2e4384dd_1_13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g29e2e4384dd_1_1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58" name="Google Shape;258;g29e2e4384dd_1_14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g29e2e4384dd_1_1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64" name="Google Shape;264;g29e2e4384dd_1_14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g29e2e4384dd_1_1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70" name="Google Shape;270;g29e2e4384dd_1_15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g29e2e4384dd_1_1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77" name="Google Shape;277;g29e2e4384dd_1_16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g29e2e4384dd_1_1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83" name="Google Shape;283;g29e2e4384dd_1_17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g29e2e4384dd_1_1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91" name="Google Shape;291;g29e2e4384dd_1_17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4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4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4" name="Google Shape;14;p4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4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4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4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4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" name="Google Shape;20;p4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4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4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5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26" name="Google Shape;26;p45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27" name="Google Shape;27;p4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4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4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46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46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3" name="Google Shape;33;p4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4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4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4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4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9" name="Google Shape;39;p4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0" name="Google Shape;40;p4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1" name="Google Shape;41;p4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2" name="Google Shape;42;p4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4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4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4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4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4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4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4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4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4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50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50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50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5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5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5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51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51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51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5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5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5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5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52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5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5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5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53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53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5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5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5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4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42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4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4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4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6.png"/><Relationship Id="rId4" Type="http://schemas.openxmlformats.org/officeDocument/2006/relationships/hyperlink" Target="http://www.nytimes.com/interactive/2007/12/15/us/politics/DEBATE.html" TargetMode="Externa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8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8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7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0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5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4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7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2.png"/><Relationship Id="rId4" Type="http://schemas.openxmlformats.org/officeDocument/2006/relationships/image" Target="../media/image1.png"/><Relationship Id="rId5" Type="http://schemas.openxmlformats.org/officeDocument/2006/relationships/image" Target="../media/image18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4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11.png"/><Relationship Id="rId4" Type="http://schemas.openxmlformats.org/officeDocument/2006/relationships/image" Target="../media/image9.png"/><Relationship Id="rId5" Type="http://schemas.openxmlformats.org/officeDocument/2006/relationships/image" Target="../media/image10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13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13.png"/><Relationship Id="rId4" Type="http://schemas.openxmlformats.org/officeDocument/2006/relationships/image" Target="../media/image5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 txBox="1"/>
          <p:nvPr>
            <p:ph type="ctrTitle"/>
          </p:nvPr>
        </p:nvSpPr>
        <p:spPr>
          <a:xfrm>
            <a:off x="685800" y="2130425"/>
            <a:ext cx="7772400" cy="147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Lecture 11</a:t>
            </a:r>
            <a:endParaRPr/>
          </a:p>
        </p:txBody>
      </p:sp>
      <p:sp>
        <p:nvSpPr>
          <p:cNvPr id="85" name="Google Shape;85;p1"/>
          <p:cNvSpPr txBox="1"/>
          <p:nvPr/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-US" sz="3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STAT 451 VISUALIZING DATA</a:t>
            </a:r>
            <a:endParaRPr b="0" i="0" sz="3200" u="none" cap="none" strike="noStrike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-US" sz="3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Fall 202</a:t>
            </a:r>
            <a:r>
              <a:rPr lang="en-US" sz="3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3200" u="none" cap="none" strike="noStrike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1"/>
          <p:cNvSpPr txBox="1"/>
          <p:nvPr/>
        </p:nvSpPr>
        <p:spPr>
          <a:xfrm>
            <a:off x="266700" y="6515100"/>
            <a:ext cx="8620200" cy="24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Many thanks to Prof. Abel Rodriguez, many slides from this course are adapted from his data visualization class.</a:t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29e2e4384dd_1_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Nonstandard data</a:t>
            </a:r>
            <a:endParaRPr/>
          </a:p>
        </p:txBody>
      </p:sp>
      <p:sp>
        <p:nvSpPr>
          <p:cNvPr id="92" name="Google Shape;92;g29e2e4384dd_1_0"/>
          <p:cNvSpPr txBox="1"/>
          <p:nvPr>
            <p:ph idx="1" type="body"/>
          </p:nvPr>
        </p:nvSpPr>
        <p:spPr>
          <a:xfrm>
            <a:off x="457200" y="1600200"/>
            <a:ext cx="8229600" cy="486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We want to extend the tools discussed in the class to represent 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lang="en-US"/>
              <a:t>Network (relational) data:  we have information about the strength of the relationship between each pair of elements in a group (e.g., how many times A sends an email to B).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lang="en-US"/>
              <a:t>Text:  we have the content of multiple books/papers, and we want to find a way to visualize that content (without having to read and memorize each of the books!)</a:t>
            </a:r>
            <a:endParaRPr/>
          </a:p>
          <a:p>
            <a:pPr indent="-1397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29e2e4384dd_1_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n-US"/>
              <a:t>Visualizations for networks:  circular network diagram</a:t>
            </a:r>
            <a:endParaRPr/>
          </a:p>
        </p:txBody>
      </p:sp>
      <p:pic>
        <p:nvPicPr>
          <p:cNvPr descr="namingnames.png" id="98" name="Google Shape;98;g29e2e4384dd_1_5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-13582" r="-13594" t="0"/>
          <a:stretch/>
        </p:blipFill>
        <p:spPr>
          <a:xfrm>
            <a:off x="457200" y="1600200"/>
            <a:ext cx="8229600" cy="4526100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g29e2e4384dd_1_5"/>
          <p:cNvSpPr txBox="1"/>
          <p:nvPr/>
        </p:nvSpPr>
        <p:spPr>
          <a:xfrm>
            <a:off x="1503628" y="6239007"/>
            <a:ext cx="6461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sng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http://www.nytimes.com/interactive/2007/12/15/us/politics/DEBATE.html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29e2e4384dd_1_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n-US"/>
              <a:t>Visualizations for text:  Word clouds</a:t>
            </a:r>
            <a:endParaRPr/>
          </a:p>
        </p:txBody>
      </p:sp>
      <p:pic>
        <p:nvPicPr>
          <p:cNvPr descr="tweets1-99b.jpg" id="105" name="Google Shape;105;g29e2e4384dd_1_11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-4797" l="0" r="0" t="-4789"/>
          <a:stretch/>
        </p:blipFill>
        <p:spPr>
          <a:xfrm>
            <a:off x="457200" y="1600200"/>
            <a:ext cx="8229600" cy="4526100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g29e2e4384dd_1_11"/>
          <p:cNvSpPr txBox="1"/>
          <p:nvPr/>
        </p:nvSpPr>
        <p:spPr>
          <a:xfrm>
            <a:off x="5136444" y="6154386"/>
            <a:ext cx="2394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http://www.wordle.net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29e2e4384dd_1_1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Networks</a:t>
            </a:r>
            <a:endParaRPr/>
          </a:p>
        </p:txBody>
      </p:sp>
      <p:sp>
        <p:nvSpPr>
          <p:cNvPr id="112" name="Google Shape;112;g29e2e4384dd_1_17"/>
          <p:cNvSpPr txBox="1"/>
          <p:nvPr>
            <p:ph idx="1" type="body"/>
          </p:nvPr>
        </p:nvSpPr>
        <p:spPr>
          <a:xfrm>
            <a:off x="457200" y="1483408"/>
            <a:ext cx="8229600" cy="4721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Networks summarize data about the relationships between pairs of subjects.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lang="en-US"/>
              <a:t>How many times has a politician mentioned another one in his/her speeches.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lang="en-US"/>
              <a:t>Who is a friend of who in Facebook.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lang="en-US"/>
              <a:t>How many emails one person sent another.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Network data usually comes in the form of a square matrix where entry (i,j) is a measure of the relationship between subjects i and j.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29e2e4384dd_1_2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Networks</a:t>
            </a:r>
            <a:endParaRPr/>
          </a:p>
        </p:txBody>
      </p:sp>
      <p:sp>
        <p:nvSpPr>
          <p:cNvPr id="118" name="Google Shape;118;g29e2e4384dd_1_22"/>
          <p:cNvSpPr txBox="1"/>
          <p:nvPr>
            <p:ph idx="1" type="body"/>
          </p:nvPr>
        </p:nvSpPr>
        <p:spPr>
          <a:xfrm>
            <a:off x="457200" y="1468809"/>
            <a:ext cx="8229600" cy="489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One possible classification of networks is: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lang="en-US"/>
              <a:t>Binary:  Only know if they are related or not (e.g., whether they are friends in Facebook or not).  Matrix only has zeros and ones.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lang="en-US"/>
              <a:t>Weighted:  We also know how strong the relationship is between individuals (e.g., we know the number of emails that each user sent to all others).  Matrix might contain integers or real numbers.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Usually diagonal elements of the matrix are zeros (no self relation).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29e2e4384dd_1_2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Networks</a:t>
            </a:r>
            <a:endParaRPr/>
          </a:p>
        </p:txBody>
      </p:sp>
      <p:sp>
        <p:nvSpPr>
          <p:cNvPr id="124" name="Google Shape;124;g29e2e4384dd_1_27"/>
          <p:cNvSpPr txBox="1"/>
          <p:nvPr>
            <p:ph idx="1" type="body"/>
          </p:nvPr>
        </p:nvSpPr>
        <p:spPr>
          <a:xfrm>
            <a:off x="457200" y="1460630"/>
            <a:ext cx="8229600" cy="493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Another possible classification is: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lang="en-US"/>
              <a:t>Directed:  a link from A to B has a different interpretation than a link from B to A (e.g., receiving an email is different from sending one).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lang="en-US"/>
              <a:t>Undirected:  the relationship we are interested does not have a direction (or we elect to ignore it).  For example, Facebook friendships.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Facebook friendships could be made into a directed network by recording who initiated the link.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29e2e4384dd_1_3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Visualizing netwoks</a:t>
            </a:r>
            <a:endParaRPr/>
          </a:p>
        </p:txBody>
      </p:sp>
      <p:sp>
        <p:nvSpPr>
          <p:cNvPr id="130" name="Google Shape;130;g29e2e4384dd_1_32"/>
          <p:cNvSpPr txBox="1"/>
          <p:nvPr>
            <p:ph idx="1" type="body"/>
          </p:nvPr>
        </p:nvSpPr>
        <p:spPr>
          <a:xfrm>
            <a:off x="457200" y="1600200"/>
            <a:ext cx="4038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Networks are usually visualized using graphs!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</a:pPr>
            <a:r>
              <a:rPr lang="en-US"/>
              <a:t>Nodes (the circles) correspond to individuals.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</a:pPr>
            <a:r>
              <a:rPr lang="en-US"/>
              <a:t>The lines/arrows identify the presence (or strength) of links between individuals</a:t>
            </a:r>
            <a:endParaRPr/>
          </a:p>
        </p:txBody>
      </p:sp>
      <p:pic>
        <p:nvPicPr>
          <p:cNvPr descr="sampson2a.pdf" id="131" name="Google Shape;131;g29e2e4384dd_1_32"/>
          <p:cNvPicPr preferRelativeResize="0"/>
          <p:nvPr>
            <p:ph idx="2" type="body"/>
          </p:nvPr>
        </p:nvPicPr>
        <p:blipFill rotWithShape="1">
          <a:blip r:embed="rId3">
            <a:alphaModFix/>
          </a:blip>
          <a:srcRect b="0" l="-11126" r="-11138" t="0"/>
          <a:stretch/>
        </p:blipFill>
        <p:spPr>
          <a:xfrm>
            <a:off x="4648200" y="1600200"/>
            <a:ext cx="4038600" cy="4526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29e2e4384dd_1_3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Binary Networks</a:t>
            </a:r>
            <a:endParaRPr/>
          </a:p>
        </p:txBody>
      </p:sp>
      <p:sp>
        <p:nvSpPr>
          <p:cNvPr id="137" name="Google Shape;137;g29e2e4384dd_1_38"/>
          <p:cNvSpPr txBox="1"/>
          <p:nvPr>
            <p:ph idx="2" type="body"/>
          </p:nvPr>
        </p:nvSpPr>
        <p:spPr>
          <a:xfrm>
            <a:off x="4648200" y="1333896"/>
            <a:ext cx="4038600" cy="5030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Sampson’s network:  relationships (likes) among monks in a New England monastery.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Binary and directed (all lines have the same width, and end in arrows).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18 monks classified by Sampson into three  “factions” (coded through color).</a:t>
            </a:r>
            <a:endParaRPr/>
          </a:p>
        </p:txBody>
      </p:sp>
      <p:pic>
        <p:nvPicPr>
          <p:cNvPr descr="sampson2a.pdf" id="138" name="Google Shape;138;g29e2e4384dd_1_38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-11126" r="-11138" t="0"/>
          <a:stretch/>
        </p:blipFill>
        <p:spPr>
          <a:xfrm>
            <a:off x="457200" y="1600200"/>
            <a:ext cx="4038600" cy="4526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29e2e4384dd_1_4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Binary Networks</a:t>
            </a:r>
            <a:endParaRPr/>
          </a:p>
        </p:txBody>
      </p:sp>
      <p:sp>
        <p:nvSpPr>
          <p:cNvPr id="144" name="Google Shape;144;g29e2e4384dd_1_44"/>
          <p:cNvSpPr txBox="1"/>
          <p:nvPr>
            <p:ph idx="2" type="body"/>
          </p:nvPr>
        </p:nvSpPr>
        <p:spPr>
          <a:xfrm>
            <a:off x="4648200" y="1600200"/>
            <a:ext cx="4038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20000"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Arranging the nodes so that the graph is legible is an issue.  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A number of algorithms have been presented in the literature: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</a:pPr>
            <a:r>
              <a:rPr lang="en-US"/>
              <a:t>Fruchterman and Reingold's algorithm.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</a:pPr>
            <a:r>
              <a:rPr lang="en-US"/>
              <a:t>Kamada-Kawai’s algorithm.</a:t>
            </a:r>
            <a:endParaRPr/>
          </a:p>
          <a:p>
            <a:pPr indent="-1333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/>
          </a:p>
          <a:p>
            <a:pPr indent="-1651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  <p:pic>
        <p:nvPicPr>
          <p:cNvPr descr="sampson3.pdf" id="145" name="Google Shape;145;g29e2e4384dd_1_44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-6040" l="0" r="0" t="-6029"/>
          <a:stretch/>
        </p:blipFill>
        <p:spPr>
          <a:xfrm>
            <a:off x="457200" y="1600200"/>
            <a:ext cx="4038600" cy="4526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29e2e4384dd_1_5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Binary Networks</a:t>
            </a:r>
            <a:endParaRPr/>
          </a:p>
        </p:txBody>
      </p:sp>
      <p:sp>
        <p:nvSpPr>
          <p:cNvPr id="151" name="Google Shape;151;g29e2e4384dd_1_50"/>
          <p:cNvSpPr txBox="1"/>
          <p:nvPr>
            <p:ph idx="1" type="body"/>
          </p:nvPr>
        </p:nvSpPr>
        <p:spPr>
          <a:xfrm>
            <a:off x="457200" y="1375767"/>
            <a:ext cx="4038600" cy="5044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A simpler solution is to arrange the nodes on a circle.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This is one of the few examples in which polar coordinates actually work well!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Note that, in all cases, the nodes have been ordered according to the Sampson’s groups.</a:t>
            </a:r>
            <a:endParaRPr/>
          </a:p>
        </p:txBody>
      </p:sp>
      <p:pic>
        <p:nvPicPr>
          <p:cNvPr descr="sampson1.pdf" id="152" name="Google Shape;152;g29e2e4384dd_1_50"/>
          <p:cNvPicPr preferRelativeResize="0"/>
          <p:nvPr>
            <p:ph idx="2" type="body"/>
          </p:nvPr>
        </p:nvPicPr>
        <p:blipFill rotWithShape="1">
          <a:blip r:embed="rId3">
            <a:alphaModFix/>
          </a:blip>
          <a:srcRect b="-6040" l="0" r="0" t="-6029"/>
          <a:stretch/>
        </p:blipFill>
        <p:spPr>
          <a:xfrm>
            <a:off x="4648200" y="1600200"/>
            <a:ext cx="4038600" cy="4526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29e2e4384dd_1_5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Networks</a:t>
            </a:r>
            <a:endParaRPr/>
          </a:p>
        </p:txBody>
      </p:sp>
      <p:pic>
        <p:nvPicPr>
          <p:cNvPr descr="network_cairo.png" id="158" name="Google Shape;158;g29e2e4384dd_1_56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-5926" l="0" r="0" t="-5916"/>
          <a:stretch/>
        </p:blipFill>
        <p:spPr>
          <a:xfrm>
            <a:off x="457200" y="1600200"/>
            <a:ext cx="8229600" cy="4526100"/>
          </a:xfrm>
          <a:prstGeom prst="rect">
            <a:avLst/>
          </a:prstGeom>
          <a:noFill/>
          <a:ln>
            <a:noFill/>
          </a:ln>
        </p:spPr>
      </p:pic>
      <p:sp>
        <p:nvSpPr>
          <p:cNvPr id="159" name="Google Shape;159;g29e2e4384dd_1_56"/>
          <p:cNvSpPr txBox="1"/>
          <p:nvPr/>
        </p:nvSpPr>
        <p:spPr>
          <a:xfrm>
            <a:off x="6069940" y="1124142"/>
            <a:ext cx="27453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This design for the links is much more readable!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0" name="Google Shape;160;g29e2e4384dd_1_56"/>
          <p:cNvSpPr txBox="1"/>
          <p:nvPr/>
        </p:nvSpPr>
        <p:spPr>
          <a:xfrm>
            <a:off x="43090" y="1162390"/>
            <a:ext cx="27453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Straight lines can be difficult to read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29e2e4384dd_1_6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Binary Networks</a:t>
            </a:r>
            <a:endParaRPr/>
          </a:p>
        </p:txBody>
      </p:sp>
      <p:sp>
        <p:nvSpPr>
          <p:cNvPr id="166" name="Google Shape;166;g29e2e4384dd_1_63"/>
          <p:cNvSpPr txBox="1"/>
          <p:nvPr>
            <p:ph idx="1" type="body"/>
          </p:nvPr>
        </p:nvSpPr>
        <p:spPr>
          <a:xfrm>
            <a:off x="457200" y="1289216"/>
            <a:ext cx="4038600" cy="50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20000"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An alternative visualization for this network involves a heatmap.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In this case, because the network is binary, you only need two colors!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The faction structure is a bit clearer here, but the visualization is not all that appealing.</a:t>
            </a:r>
            <a:endParaRPr/>
          </a:p>
          <a:p>
            <a:pPr indent="-1651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  <p:pic>
        <p:nvPicPr>
          <p:cNvPr descr="sampson_network.pdf" id="167" name="Google Shape;167;g29e2e4384dd_1_63"/>
          <p:cNvPicPr preferRelativeResize="0"/>
          <p:nvPr>
            <p:ph idx="2" type="body"/>
          </p:nvPr>
        </p:nvPicPr>
        <p:blipFill rotWithShape="1">
          <a:blip r:embed="rId3">
            <a:alphaModFix/>
          </a:blip>
          <a:srcRect b="-6040" l="0" r="0" t="-6029"/>
          <a:stretch/>
        </p:blipFill>
        <p:spPr>
          <a:xfrm>
            <a:off x="4648200" y="1600200"/>
            <a:ext cx="4038600" cy="4526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29e2e4384dd_1_6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Weighted Networks</a:t>
            </a:r>
            <a:endParaRPr/>
          </a:p>
        </p:txBody>
      </p:sp>
      <p:sp>
        <p:nvSpPr>
          <p:cNvPr id="173" name="Google Shape;173;g29e2e4384dd_1_69"/>
          <p:cNvSpPr txBox="1"/>
          <p:nvPr>
            <p:ph idx="1" type="body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Similar ideas can be used for weighted networks.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Color and/or line thickness can be used to represent the strength of the link (I suggest using both!)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29e2e4384dd_1_7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Weighted Networks</a:t>
            </a:r>
            <a:endParaRPr/>
          </a:p>
        </p:txBody>
      </p:sp>
      <p:sp>
        <p:nvSpPr>
          <p:cNvPr id="179" name="Google Shape;179;g29e2e4384dd_1_74"/>
          <p:cNvSpPr txBox="1"/>
          <p:nvPr>
            <p:ph idx="1" type="body"/>
          </p:nvPr>
        </p:nvSpPr>
        <p:spPr>
          <a:xfrm>
            <a:off x="457200" y="1298472"/>
            <a:ext cx="4038600" cy="5208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20000"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Network of 27 most important US airports.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18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Weight of the links corresponds to the number of seats available between both airports.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18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Shortcomings:</a:t>
            </a:r>
            <a:endParaRPr/>
          </a:p>
          <a:p>
            <a:pPr indent="-297180" lvl="1" marL="742950" rtl="0" algn="l">
              <a:lnSpc>
                <a:spcPct val="100000"/>
              </a:lnSpc>
              <a:spcBef>
                <a:spcPts val="444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</a:pPr>
            <a:r>
              <a:rPr lang="en-US"/>
              <a:t>No geographical information (maybe reorder the vertices?)</a:t>
            </a:r>
            <a:endParaRPr/>
          </a:p>
          <a:p>
            <a:pPr indent="-297180" lvl="1" marL="742950" rtl="0" algn="l">
              <a:lnSpc>
                <a:spcPct val="100000"/>
              </a:lnSpc>
              <a:spcBef>
                <a:spcPts val="444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</a:pPr>
            <a:r>
              <a:rPr lang="en-US"/>
              <a:t>Because the network is dense, it is very hard to read!!</a:t>
            </a:r>
            <a:endParaRPr/>
          </a:p>
        </p:txBody>
      </p:sp>
      <p:pic>
        <p:nvPicPr>
          <p:cNvPr descr="usroutes_circular_s.pdf" id="180" name="Google Shape;180;g29e2e4384dd_1_74"/>
          <p:cNvPicPr preferRelativeResize="0"/>
          <p:nvPr>
            <p:ph idx="2" type="body"/>
          </p:nvPr>
        </p:nvPicPr>
        <p:blipFill rotWithShape="1">
          <a:blip r:embed="rId3">
            <a:alphaModFix/>
          </a:blip>
          <a:srcRect b="-7895" l="0" r="0" t="-7897"/>
          <a:stretch/>
        </p:blipFill>
        <p:spPr>
          <a:xfrm>
            <a:off x="4648200" y="1600200"/>
            <a:ext cx="4038600" cy="4526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g29e2e4384dd_1_8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Weighted Networks</a:t>
            </a:r>
            <a:endParaRPr/>
          </a:p>
        </p:txBody>
      </p:sp>
      <p:sp>
        <p:nvSpPr>
          <p:cNvPr id="186" name="Google Shape;186;g29e2e4384dd_1_80"/>
          <p:cNvSpPr txBox="1"/>
          <p:nvPr>
            <p:ph idx="1" type="body"/>
          </p:nvPr>
        </p:nvSpPr>
        <p:spPr>
          <a:xfrm>
            <a:off x="457200" y="1600200"/>
            <a:ext cx="4038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A more sophisticated version of the visualization that overlays the network on a map.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More informative about geography, but still hard to read!</a:t>
            </a:r>
            <a:endParaRPr/>
          </a:p>
        </p:txBody>
      </p:sp>
      <p:pic>
        <p:nvPicPr>
          <p:cNvPr descr="usroutes_full.pdf" id="187" name="Google Shape;187;g29e2e4384dd_1_80"/>
          <p:cNvPicPr preferRelativeResize="0"/>
          <p:nvPr>
            <p:ph idx="2" type="body"/>
          </p:nvPr>
        </p:nvPicPr>
        <p:blipFill rotWithShape="1">
          <a:blip r:embed="rId3">
            <a:alphaModFix/>
          </a:blip>
          <a:srcRect b="-6040" l="0" r="0" t="-6029"/>
          <a:stretch/>
        </p:blipFill>
        <p:spPr>
          <a:xfrm>
            <a:off x="4648200" y="1600200"/>
            <a:ext cx="4038600" cy="4526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29e2e4384dd_1_8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Weighted Networks</a:t>
            </a:r>
            <a:endParaRPr/>
          </a:p>
        </p:txBody>
      </p:sp>
      <p:sp>
        <p:nvSpPr>
          <p:cNvPr id="193" name="Google Shape;193;g29e2e4384dd_1_86"/>
          <p:cNvSpPr txBox="1"/>
          <p:nvPr>
            <p:ph idx="1" type="body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One solution is to split the airports into two (or more) groups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lang="en-US"/>
              <a:t>According to size (large vs. small).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lang="en-US"/>
              <a:t>According to geographical location (East vs. West)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If you split into two groups (say Eastern and Western airports) you need to create three maps.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If you split into more groups, the number of maps grows very fast.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g29e2e4384dd_1_9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Weighted Networks</a:t>
            </a:r>
            <a:endParaRPr/>
          </a:p>
        </p:txBody>
      </p:sp>
      <p:pic>
        <p:nvPicPr>
          <p:cNvPr descr="usroutes_west_to_west.pdf" id="199" name="Google Shape;199;g29e2e4384dd_1_91"/>
          <p:cNvPicPr preferRelativeResize="0"/>
          <p:nvPr/>
        </p:nvPicPr>
        <p:blipFill rotWithShape="1">
          <a:blip r:embed="rId3">
            <a:alphaModFix/>
          </a:blip>
          <a:srcRect b="-6040" l="0" r="0" t="-6029"/>
          <a:stretch/>
        </p:blipFill>
        <p:spPr>
          <a:xfrm>
            <a:off x="371574" y="2273778"/>
            <a:ext cx="2880361" cy="322796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usroutes_east_to_east.pdf" id="200" name="Google Shape;200;g29e2e4384dd_1_91"/>
          <p:cNvPicPr preferRelativeResize="0"/>
          <p:nvPr>
            <p:ph idx="2" type="body"/>
          </p:nvPr>
        </p:nvPicPr>
        <p:blipFill rotWithShape="1">
          <a:blip r:embed="rId4">
            <a:alphaModFix/>
          </a:blip>
          <a:srcRect b="-6040" l="0" r="0" t="-6029"/>
          <a:stretch/>
        </p:blipFill>
        <p:spPr>
          <a:xfrm>
            <a:off x="5789864" y="2273778"/>
            <a:ext cx="2880300" cy="322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usroutes_east_to_west.pdf" id="201" name="Google Shape;201;g29e2e4384dd_1_91"/>
          <p:cNvPicPr preferRelativeResize="0"/>
          <p:nvPr>
            <p:ph idx="1" type="body"/>
          </p:nvPr>
        </p:nvPicPr>
        <p:blipFill rotWithShape="1">
          <a:blip r:embed="rId5">
            <a:alphaModFix/>
          </a:blip>
          <a:srcRect b="-6040" l="0" r="0" t="-6029"/>
          <a:stretch/>
        </p:blipFill>
        <p:spPr>
          <a:xfrm>
            <a:off x="3111567" y="2273778"/>
            <a:ext cx="2880300" cy="322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02" name="Google Shape;202;g29e2e4384dd_1_91"/>
          <p:cNvSpPr txBox="1"/>
          <p:nvPr/>
        </p:nvSpPr>
        <p:spPr>
          <a:xfrm>
            <a:off x="4324045" y="5544547"/>
            <a:ext cx="42042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For dense networks like this, an interactive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visualization works much better!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g29e2e4384dd_1_9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Weighted Networks</a:t>
            </a:r>
            <a:endParaRPr/>
          </a:p>
        </p:txBody>
      </p:sp>
      <p:sp>
        <p:nvSpPr>
          <p:cNvPr id="208" name="Google Shape;208;g29e2e4384dd_1_99"/>
          <p:cNvSpPr txBox="1"/>
          <p:nvPr>
            <p:ph idx="1" type="body"/>
          </p:nvPr>
        </p:nvSpPr>
        <p:spPr>
          <a:xfrm>
            <a:off x="457200" y="1600200"/>
            <a:ext cx="4038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The previous graphs are a bit less cluttered, but still very hard to read.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For dense graphs, heatmaps can be the best (if less visually attractive) solution.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Here I ordered the airports according to their distance to Miami International Airport.</a:t>
            </a:r>
            <a:endParaRPr/>
          </a:p>
        </p:txBody>
      </p:sp>
      <p:pic>
        <p:nvPicPr>
          <p:cNvPr descr="usroutes_heatmpa.pdf" id="209" name="Google Shape;209;g29e2e4384dd_1_99"/>
          <p:cNvPicPr preferRelativeResize="0"/>
          <p:nvPr>
            <p:ph idx="2" type="body"/>
          </p:nvPr>
        </p:nvPicPr>
        <p:blipFill rotWithShape="1">
          <a:blip r:embed="rId3">
            <a:alphaModFix/>
          </a:blip>
          <a:srcRect b="-6040" l="0" r="0" t="-6029"/>
          <a:stretch/>
        </p:blipFill>
        <p:spPr>
          <a:xfrm>
            <a:off x="4648200" y="1600200"/>
            <a:ext cx="4038600" cy="4526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g29e2e4384dd_1_10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Text data</a:t>
            </a:r>
            <a:endParaRPr/>
          </a:p>
        </p:txBody>
      </p:sp>
      <p:sp>
        <p:nvSpPr>
          <p:cNvPr id="215" name="Google Shape;215;g29e2e4384dd_1_105"/>
          <p:cNvSpPr txBox="1"/>
          <p:nvPr>
            <p:ph idx="1" type="body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Suppose we have access to all the books written by two different authors (e.g., Hemingway and Salinger).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How we can visualize the differences between the two writers?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lang="en-US"/>
              <a:t>We need to find appropriate (numerical) summaries of the data.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lang="en-US"/>
              <a:t>We have to find good representations for those summaries.</a:t>
            </a:r>
            <a:endParaRPr/>
          </a:p>
        </p:txBody>
      </p:sp>
      <p:sp>
        <p:nvSpPr>
          <p:cNvPr id="216" name="Google Shape;216;g29e2e4384dd_1_105"/>
          <p:cNvSpPr txBox="1"/>
          <p:nvPr/>
        </p:nvSpPr>
        <p:spPr>
          <a:xfrm>
            <a:off x="5182391" y="481775"/>
            <a:ext cx="184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g29e2e4384dd_1_1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Text data</a:t>
            </a:r>
            <a:endParaRPr/>
          </a:p>
        </p:txBody>
      </p:sp>
      <p:sp>
        <p:nvSpPr>
          <p:cNvPr id="222" name="Google Shape;222;g29e2e4384dd_1_111"/>
          <p:cNvSpPr txBox="1"/>
          <p:nvPr>
            <p:ph idx="1" type="body"/>
          </p:nvPr>
        </p:nvSpPr>
        <p:spPr>
          <a:xfrm>
            <a:off x="457200" y="1600200"/>
            <a:ext cx="8229600" cy="469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The simplest numerical summary of a text is the frequency of the different words in the corpus.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lang="en-US"/>
              <a:t>A slightly more sophisticated version of this idea uses pairs of words (also called bigrams), or more generally, sequences of n words (n-grams).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Should all words be counted?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i="1" lang="en-US"/>
              <a:t>Run</a:t>
            </a:r>
            <a:r>
              <a:rPr lang="en-US"/>
              <a:t> vs. </a:t>
            </a:r>
            <a:r>
              <a:rPr i="1" lang="en-US"/>
              <a:t>run</a:t>
            </a:r>
            <a:r>
              <a:rPr i="1" lang="en-US">
                <a:solidFill>
                  <a:srgbClr val="FF0000"/>
                </a:solidFill>
              </a:rPr>
              <a:t>ning</a:t>
            </a:r>
            <a:r>
              <a:rPr lang="en-US"/>
              <a:t>?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lang="en-US"/>
              <a:t>Should we include common words (</a:t>
            </a:r>
            <a:r>
              <a:rPr i="1" lang="en-US"/>
              <a:t>the</a:t>
            </a:r>
            <a:r>
              <a:rPr lang="en-US"/>
              <a:t>, </a:t>
            </a:r>
            <a:r>
              <a:rPr i="1" lang="en-US"/>
              <a:t>a</a:t>
            </a:r>
            <a:r>
              <a:rPr lang="en-US"/>
              <a:t>, …)?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lang="en-US"/>
              <a:t>Should we just focus on a few “important” words?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g29e2e4384dd_1_11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Text data</a:t>
            </a:r>
            <a:endParaRPr/>
          </a:p>
        </p:txBody>
      </p:sp>
      <p:sp>
        <p:nvSpPr>
          <p:cNvPr id="228" name="Google Shape;228;g29e2e4384dd_1_116"/>
          <p:cNvSpPr txBox="1"/>
          <p:nvPr>
            <p:ph idx="1" type="body"/>
          </p:nvPr>
        </p:nvSpPr>
        <p:spPr>
          <a:xfrm>
            <a:off x="457200" y="1600200"/>
            <a:ext cx="8229600" cy="4852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“Stemming” is the process of reducing inflected or derived words to their stem, base or root: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lang="en-US"/>
              <a:t>For most purposes, </a:t>
            </a:r>
            <a:r>
              <a:rPr i="1" lang="en-US"/>
              <a:t>run</a:t>
            </a:r>
            <a:r>
              <a:rPr lang="en-US"/>
              <a:t>, </a:t>
            </a:r>
            <a:r>
              <a:rPr i="1" lang="en-US"/>
              <a:t>runs</a:t>
            </a:r>
            <a:r>
              <a:rPr lang="en-US"/>
              <a:t>, and </a:t>
            </a:r>
            <a:r>
              <a:rPr i="1" lang="en-US"/>
              <a:t>running</a:t>
            </a:r>
            <a:r>
              <a:rPr lang="en-US"/>
              <a:t> are not really different words (just conjugations of a common one).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lang="en-US"/>
              <a:t>Similarly, </a:t>
            </a:r>
            <a:r>
              <a:rPr i="1" lang="en-US"/>
              <a:t>house</a:t>
            </a:r>
            <a:r>
              <a:rPr lang="en-US"/>
              <a:t> and </a:t>
            </a:r>
            <a:r>
              <a:rPr i="1" lang="en-US"/>
              <a:t>houses</a:t>
            </a:r>
            <a:r>
              <a:rPr lang="en-US"/>
              <a:t> are the same word.</a:t>
            </a:r>
            <a:endParaRPr/>
          </a:p>
          <a:p>
            <a:pPr indent="-1079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29e2e4384dd_1_12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Text data</a:t>
            </a:r>
            <a:endParaRPr/>
          </a:p>
        </p:txBody>
      </p:sp>
      <p:sp>
        <p:nvSpPr>
          <p:cNvPr id="234" name="Google Shape;234;g29e2e4384dd_1_121"/>
          <p:cNvSpPr txBox="1"/>
          <p:nvPr>
            <p:ph idx="1" type="body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Filtering “stop words” is the process of eliminating very common words (such as </a:t>
            </a:r>
            <a:r>
              <a:rPr i="1" lang="en-US"/>
              <a:t>the</a:t>
            </a:r>
            <a:r>
              <a:rPr lang="en-US"/>
              <a:t>, </a:t>
            </a:r>
            <a:r>
              <a:rPr i="1" lang="en-US"/>
              <a:t>is</a:t>
            </a:r>
            <a:r>
              <a:rPr lang="en-US"/>
              <a:t>, </a:t>
            </a:r>
            <a:r>
              <a:rPr i="1" lang="en-US"/>
              <a:t>at</a:t>
            </a:r>
            <a:r>
              <a:rPr lang="en-US"/>
              <a:t>, </a:t>
            </a:r>
            <a:r>
              <a:rPr i="1" lang="en-US"/>
              <a:t>which</a:t>
            </a:r>
            <a:r>
              <a:rPr lang="en-US"/>
              <a:t>, and </a:t>
            </a:r>
            <a:r>
              <a:rPr i="1" lang="en-US"/>
              <a:t>on</a:t>
            </a:r>
            <a:r>
              <a:rPr lang="en-US"/>
              <a:t>).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lang="en-US"/>
              <a:t>This is appropriate in many applications …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lang="en-US"/>
              <a:t>But for some (like distinguishing among writers) you might want to discard all other words and retain </a:t>
            </a:r>
            <a:r>
              <a:rPr i="1" lang="en-US"/>
              <a:t>only</a:t>
            </a:r>
            <a:r>
              <a:rPr lang="en-US"/>
              <a:t> certain stop words.</a:t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g29e2e4384dd_1_12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Text data</a:t>
            </a:r>
            <a:endParaRPr/>
          </a:p>
        </p:txBody>
      </p:sp>
      <p:sp>
        <p:nvSpPr>
          <p:cNvPr id="240" name="Google Shape;240;g29e2e4384dd_1_126"/>
          <p:cNvSpPr txBox="1"/>
          <p:nvPr>
            <p:ph idx="1" type="body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Even after excluding stop words, sometimes working with all remaining words is still  unwieldy and you want to focus on a smaller subsets.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When the corpus is made of </a:t>
            </a:r>
            <a:r>
              <a:rPr b="1" lang="en-US"/>
              <a:t>multiple documents</a:t>
            </a:r>
            <a:r>
              <a:rPr lang="en-US"/>
              <a:t>, term frequency–inverse document frequency (</a:t>
            </a:r>
            <a:r>
              <a:rPr b="1" lang="en-US"/>
              <a:t>td-idf</a:t>
            </a:r>
            <a:r>
              <a:rPr lang="en-US"/>
              <a:t>) is a summary statistic that can be helpful in selecting words.</a:t>
            </a:r>
            <a:endParaRPr/>
          </a:p>
          <a:p>
            <a:pPr indent="-1397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g29e2e4384dd_1_13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Text data</a:t>
            </a:r>
            <a:endParaRPr/>
          </a:p>
        </p:txBody>
      </p:sp>
      <p:sp>
        <p:nvSpPr>
          <p:cNvPr id="246" name="Google Shape;246;g29e2e4384dd_1_131"/>
          <p:cNvSpPr txBox="1"/>
          <p:nvPr>
            <p:ph idx="1" type="body"/>
          </p:nvPr>
        </p:nvSpPr>
        <p:spPr>
          <a:xfrm>
            <a:off x="457200" y="1417638"/>
            <a:ext cx="8229600" cy="4976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20000"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td-idf is a summary that is used to select words that provide, in some sense, maximum separation among documents.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td-idf depends on two quantities:</a:t>
            </a:r>
            <a:endParaRPr/>
          </a:p>
          <a:p>
            <a:pPr indent="-299085" lvl="1" marL="742950" rtl="0" algn="l">
              <a:lnSpc>
                <a:spcPct val="100000"/>
              </a:lnSpc>
              <a:spcBef>
                <a:spcPts val="518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lang="en-US"/>
              <a:t>One that captures how common a word is in a given document.</a:t>
            </a:r>
            <a:endParaRPr/>
          </a:p>
          <a:p>
            <a:pPr indent="-299085" lvl="1" marL="742950" rtl="0" algn="l">
              <a:lnSpc>
                <a:spcPct val="100000"/>
              </a:lnSpc>
              <a:spcBef>
                <a:spcPts val="518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lang="en-US"/>
              <a:t>A second one that captures how frequent a word is overall.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You want words that are not too frequent overall but have a high frequency  in specific documents.</a:t>
            </a:r>
            <a:endParaRPr/>
          </a:p>
          <a:p>
            <a:pPr indent="-154940" lvl="0" marL="342900" rtl="0" algn="l">
              <a:lnSpc>
                <a:spcPct val="100000"/>
              </a:lnSpc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g29e2e4384dd_1_13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Text data</a:t>
            </a:r>
            <a:endParaRPr/>
          </a:p>
        </p:txBody>
      </p:sp>
      <p:pic>
        <p:nvPicPr>
          <p:cNvPr id="252" name="Google Shape;252;g29e2e4384dd_1_1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00271" y="1789548"/>
            <a:ext cx="6047044" cy="64574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3" name="Google Shape;253;g29e2e4384dd_1_13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500271" y="3187529"/>
            <a:ext cx="6242053" cy="723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4" name="Google Shape;254;g29e2e4384dd_1_13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124200" y="4581957"/>
            <a:ext cx="2994025" cy="312737"/>
          </a:xfrm>
          <a:prstGeom prst="rect">
            <a:avLst/>
          </a:prstGeom>
          <a:noFill/>
          <a:ln>
            <a:noFill/>
          </a:ln>
        </p:spPr>
      </p:pic>
      <p:sp>
        <p:nvSpPr>
          <p:cNvPr id="255" name="Google Shape;255;g29e2e4384dd_1_136"/>
          <p:cNvSpPr txBox="1"/>
          <p:nvPr/>
        </p:nvSpPr>
        <p:spPr>
          <a:xfrm>
            <a:off x="642324" y="5461299"/>
            <a:ext cx="7941600" cy="95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Pick top </a:t>
            </a:r>
            <a:r>
              <a:rPr b="0" i="1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</a:t>
            </a: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words (say, </a:t>
            </a:r>
            <a:r>
              <a:rPr b="0" i="1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</a:t>
            </a: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= 10) for each document, and work only with those words.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g29e2e4384dd_1_14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Text data</a:t>
            </a:r>
            <a:endParaRPr/>
          </a:p>
        </p:txBody>
      </p:sp>
      <p:sp>
        <p:nvSpPr>
          <p:cNvPr id="261" name="Google Shape;261;g29e2e4384dd_1_144"/>
          <p:cNvSpPr txBox="1"/>
          <p:nvPr>
            <p:ph idx="1" type="body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No matter how you select the vocabulary used to represent the documents, the summary statistic will correspond to word frequencies!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The best ways to graphically represent frequencies is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lang="en-US"/>
              <a:t>Bar plots.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lang="en-US"/>
              <a:t>Dot plots.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Remember that pie charts are considered suboptimal.</a:t>
            </a:r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g29e2e4384dd_1_14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Text data</a:t>
            </a:r>
            <a:endParaRPr/>
          </a:p>
        </p:txBody>
      </p:sp>
      <p:sp>
        <p:nvSpPr>
          <p:cNvPr id="267" name="Google Shape;267;g29e2e4384dd_1_149"/>
          <p:cNvSpPr txBox="1"/>
          <p:nvPr>
            <p:ph idx="1" type="body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The challenge in this case is that the number of words is typically going to be high (at least in the hundreds).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Can you really make a readable bar plot (or even dot plot) with hundreds of bars?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Note that a pie chart would be even worse in this case …</a:t>
            </a:r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g29e2e4384dd_1_15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Word clouds</a:t>
            </a:r>
            <a:endParaRPr/>
          </a:p>
        </p:txBody>
      </p:sp>
      <p:sp>
        <p:nvSpPr>
          <p:cNvPr id="273" name="Google Shape;273;g29e2e4384dd_1_154"/>
          <p:cNvSpPr txBox="1"/>
          <p:nvPr>
            <p:ph idx="1" type="body"/>
          </p:nvPr>
        </p:nvSpPr>
        <p:spPr>
          <a:xfrm>
            <a:off x="457200" y="1600200"/>
            <a:ext cx="4038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Word clouds like the ones on the right are an alternative visualization for categorical data that allows you represent hundreds of categories together.</a:t>
            </a:r>
            <a:endParaRPr/>
          </a:p>
        </p:txBody>
      </p:sp>
      <p:pic>
        <p:nvPicPr>
          <p:cNvPr descr="wordcloudpackages.pdf" id="274" name="Google Shape;274;g29e2e4384dd_1_154"/>
          <p:cNvPicPr preferRelativeResize="0"/>
          <p:nvPr>
            <p:ph idx="2" type="body"/>
          </p:nvPr>
        </p:nvPicPr>
        <p:blipFill rotWithShape="1">
          <a:blip r:embed="rId3">
            <a:alphaModFix/>
          </a:blip>
          <a:srcRect b="-6040" l="0" r="0" t="-6029"/>
          <a:stretch/>
        </p:blipFill>
        <p:spPr>
          <a:xfrm>
            <a:off x="4648200" y="1600200"/>
            <a:ext cx="4038600" cy="4526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g29e2e4384dd_1_16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Word clouds</a:t>
            </a:r>
            <a:endParaRPr/>
          </a:p>
        </p:txBody>
      </p:sp>
      <p:sp>
        <p:nvSpPr>
          <p:cNvPr id="280" name="Google Shape;280;g29e2e4384dd_1_160"/>
          <p:cNvSpPr txBox="1"/>
          <p:nvPr>
            <p:ph idx="1" type="body"/>
          </p:nvPr>
        </p:nvSpPr>
        <p:spPr>
          <a:xfrm>
            <a:off x="457200" y="1403039"/>
            <a:ext cx="8229600" cy="4976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Word clouds are very popular on the web: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lang="en-US"/>
              <a:t>They are good for visualizing the “big picture” (e.g., what are the most important words).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However, because they use areas to represent proportions, word clouds do not allow for very accurate comparisons!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lang="en-US"/>
              <a:t>Solution:  complement the word cloud with a bar chart associated with the most frequent words in the vocabulary that allows for more accurate comparisons.</a:t>
            </a:r>
            <a:endParaRP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g29e2e4384dd_1_17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Creating word clouds</a:t>
            </a:r>
            <a:endParaRPr/>
          </a:p>
        </p:txBody>
      </p:sp>
      <p:pic>
        <p:nvPicPr>
          <p:cNvPr descr="wordcloudpackages.pdf" id="286" name="Google Shape;286;g29e2e4384dd_1_170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-6040" l="0" r="0" t="-6029"/>
          <a:stretch/>
        </p:blipFill>
        <p:spPr>
          <a:xfrm>
            <a:off x="457200" y="1600200"/>
            <a:ext cx="4038600" cy="4526100"/>
          </a:xfrm>
          <a:prstGeom prst="rect">
            <a:avLst/>
          </a:prstGeom>
          <a:noFill/>
          <a:ln>
            <a:noFill/>
          </a:ln>
        </p:spPr>
      </p:pic>
      <p:sp>
        <p:nvSpPr>
          <p:cNvPr id="287" name="Google Shape;287;g29e2e4384dd_1_170"/>
          <p:cNvSpPr txBox="1"/>
          <p:nvPr/>
        </p:nvSpPr>
        <p:spPr>
          <a:xfrm>
            <a:off x="1031708" y="6126163"/>
            <a:ext cx="7520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Note that I used the same colors on the left and right to facilitate comparisons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wordcloudpackages_barplot.pdf" id="288" name="Google Shape;288;g29e2e4384dd_1_170"/>
          <p:cNvPicPr preferRelativeResize="0"/>
          <p:nvPr>
            <p:ph idx="2" type="body"/>
          </p:nvPr>
        </p:nvPicPr>
        <p:blipFill rotWithShape="1">
          <a:blip r:embed="rId4">
            <a:alphaModFix/>
          </a:blip>
          <a:srcRect b="-6040" l="0" r="0" t="-6029"/>
          <a:stretch/>
        </p:blipFill>
        <p:spPr>
          <a:xfrm>
            <a:off x="4648200" y="1600200"/>
            <a:ext cx="4038600" cy="4526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g29e2e4384dd_1_17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n-US"/>
              <a:t>Comparing multiple documents in a corpus</a:t>
            </a:r>
            <a:endParaRPr/>
          </a:p>
        </p:txBody>
      </p:sp>
      <p:sp>
        <p:nvSpPr>
          <p:cNvPr id="294" name="Google Shape;294;g29e2e4384dd_1_177"/>
          <p:cNvSpPr txBox="1"/>
          <p:nvPr>
            <p:ph idx="1" type="body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When using word clouds/barplots to compare documents, it can be useful to construct them for each document and also for the corpus as a whole (recall the definition of tf-idf).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However, graphing tf-idf instead of frequencies is often not very helpful …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2014-01-07T19:04:38Z</dcterms:created>
  <dc:creator>Abel Rodriguez</dc:creator>
</cp:coreProperties>
</file>